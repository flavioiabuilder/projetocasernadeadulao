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 — A Caverna. Slide 1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 — A Caverna. Slide 2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 — A Caverna. Slide 3 de 69.
1 Samuel 22.1–2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 — A Caverna. Slide 4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 — A Caverna. Slide 5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 — A Caverna. Slide 6 de 69.
Fecho de ato: Três mil anos depois, a mesma caverna tem outro endereço.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 — O Homem. Slide 7 de 69.
Composição narrativa. Não corresponde a caso individual identificável.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 — O Homem. Slide 8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 — O Homem. Slide 9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 — O Homem. Slide 10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 — O Homem. Slide 11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 — O Homem. Slide 12 de 69.
Fecho de ato: Essa é a necessidade. O que vem agora é a resposta que a Escritura oferece.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III — O Discipulado. Slide 13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III — O Discipulado. Slide 14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III — O Discipulado. Slide 15 de 69.
Mateus 28.18–20 · 2 Timóteo 2.2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III — O Discipulado. Slide 16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III — O Discipulado. Slide 17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III — O Discipulado. Slide 18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III — O Discipulado. Slide 19 de 69.
Fecho de ato: Sabemos o que precisa ser feito. Falta saber em que língua dizê-lo.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IV — A Linguagem. Slide 20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IV — A Linguagem. Slide 21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IV — A Linguagem. Slide 22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IV — A Linguagem. Slide 23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IV — A Linguagem. Slide 24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IV — A Linguagem. Slide 25 de 69.
Fecho de ato: A ponte existe. Falta mostrar o lugar de onde ela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 — Adulão. Slide 26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 — Adulão. Slide 27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 — Adulão. Slide 28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 — Adulão. Slide 29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 — Adulão. Slide 30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 — Adulão. Slide 31 de 69.
Fecho de ato: A leitura teológica está feita. O que se construiu a partir dela vem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 — O Projeto. Slide 32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 — O Projeto. Slide 33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 — O Projeto. Slide 34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 — O Projeto. Slide 35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 — O Projeto. Slide 36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 — O Projeto. Slide 37 de 69.
Fecho de ato: Essa é a instituição. O que segue é o programa que ela carrega.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38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39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40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41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42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43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44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45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46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47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48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49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50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 — O Programa. Slide 51 de 69.
Fecho de ato: O que se vive em sala precisa ter forma visível fora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VIII — A Identidade Visual. Slide 52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VIII — A Identidade Visual. Slide 53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VIII — A Identidade Visual. Slide 54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VIII — A Identidade Visual. Slide 55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VIII — A Identidade Visual. Slide 56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VIII — A Identidade Visual. Slide 57 de 69.
Fecho de ato: Nada disso sobrevive sozinho. Falta o que garante que se repita.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IX — O Guia Mestre. Slide 58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IX — O Guia Mestre. Slide 59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IX — O Guia Mestre. Slide 60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IX — O Guia Mestre. Slide 61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IX — O Guia Mestre. Slide 62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IX — O Guia Mestre. Slide 63 de 69.
Fecho de ato: É tudo o que já existe. A partir daqui, o que ainda não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X — O Horizonte. Slide 64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X — O Horizonte. Slide 65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X — O Horizonte. Slide 66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X — O Horizonte. Slide 67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X — O Horizonte. Slide 68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 X — O Horizonte. Slide 69 de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325880"/>
            <a:ext cx="8503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 · A CAVERNA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243584"/>
            <a:ext cx="5852160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 três mil anos, um homem chamado Davi fugia do rei que queria matá-lo.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já tinha sido ungido. Já tinha vencido Golias. Já tinha sido celebrado pelo povo inteiro. E, ainda assim, estava escondido numa caverna, sem exército, sem posto e sem futuro visível.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lugar se chamava Adulão.</a:t>
            </a:r>
            <a:endParaRPr lang="en-US" sz="1350" dirty="0"/>
          </a:p>
        </p:txBody>
      </p:sp>
      <p:pic>
        <p:nvPicPr>
          <p:cNvPr id="10" name="Image 0" descr="/home/claude/dac/figs/s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234440"/>
            <a:ext cx="48463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 · A CAVERNA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243584"/>
            <a:ext cx="5852160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Foi então que começaram a aparecer homens naquela caverna. E a Escritura é muito específica sobre quem eram eles.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Homens em aperto — gente sob pressão que não conseguia resolver sozinha. Homens endividados — gente com obrigações que não tinha como pagar. E homens amargurados de espírito — gente cuja ferida tinha azedado por dentro.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foi convocado. Todos foram parar ali porque não tinham para onde ir.</a:t>
            </a:r>
            <a:endParaRPr lang="en-US" sz="1350" dirty="0"/>
          </a:p>
        </p:txBody>
      </p:sp>
      <p:pic>
        <p:nvPicPr>
          <p:cNvPr id="10" name="Image 0" descr="/home/claude/dac/figs/s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234440"/>
            <a:ext cx="4846320" cy="4297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52160" y="6071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Samuel 22.1–2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 · A CAVERNA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8503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Aqueles homens se tornaram os valentes de Davi.</a:t>
            </a:r>
            <a:endParaRPr lang="en-US" sz="1450" dirty="0"/>
          </a:p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mesmos nomes que a Escritura registra depois como heróis de guerra saíram todos daquela lista de fugitivos.</a:t>
            </a:r>
            <a:endParaRPr lang="en-US" sz="1450" dirty="0"/>
          </a:p>
          <a:p>
            <a:pPr algn="ctr" indent="0" marL="0">
              <a:lnSpc>
                <a:spcPts val="3600"/>
              </a:lnSpc>
              <a:spcBef>
                <a:spcPts val="140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quebrantados, valentes.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3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 · A CAVERNA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2A3245"/>
          </a:solidFill>
          <a:ln w="9525">
            <a:solidFill>
              <a:srgbClr val="4650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2A3245"/>
          </a:solidFill>
          <a:ln w="9525">
            <a:solidFill>
              <a:srgbClr val="4650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2A3245"/>
          </a:solidFill>
          <a:ln w="9525">
            <a:solidFill>
              <a:srgbClr val="4650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2A3245"/>
          </a:solidFill>
          <a:ln w="9525">
            <a:solidFill>
              <a:srgbClr val="4650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85953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Deus faz com o homem que chegou ao fundo — e chegou lá por culpa própria?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2688336"/>
            <a:ext cx="8595360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 história levanta uma pergunta que este documento inteiro tenta responder: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uma pergunta teórica. Ela é feita todos os dias, em silêncio, por homens que carregam farda e carregam vergonha ao mesmo tempo.</a:t>
            </a:r>
            <a:endParaRPr lang="en-US" sz="1350" dirty="0"/>
          </a:p>
          <a:p>
            <a:pPr indent="0" marL="0">
              <a:spcBef>
                <a:spcPts val="1400"/>
              </a:spcBef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Discipulando a Caserna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discipulado do Projeto Caserna de Adulão · Apresentação institucional v1.0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 · A CAVERNA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852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este documento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585216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seguir, vale explicar o que você tem em mãos.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 apresentação foi feita para ser lida sem ninguém ao lado explicando. Tudo o que seria dito em voz alta está escrito aqui. Você pode parar quando quiser e retomar depois — o documento lembra onde você estava.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dez partes. A leitura completa leva cerca de meia hora. Você não precisa decidir nada durante o caminho: as perguntas estão todas reunidas no final.</a:t>
            </a:r>
            <a:endParaRPr lang="en-US" sz="1350" dirty="0"/>
          </a:p>
        </p:txBody>
      </p:sp>
      <p:pic>
        <p:nvPicPr>
          <p:cNvPr id="11" name="Image 0" descr="/home/claude/dac/figs/s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371600"/>
            <a:ext cx="4160520" cy="4023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mil anos depois, a mesma caverna tem outro endereço.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 · O HOMEM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chega com a farda e com a vergonha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56235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Deixe eu apresentar a você o homem de quem esta apresentação trata. Ele não tem nome aqui, porque não é uma pessoa específica — é o retrato de muitos.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conhece hierarquia. Conhece disciplina. Conhece missão. Foi formado por um sistema que ensina a obedecer, a resistir e a proteger.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chega carregando culpa. Não uma acusação injusta, não um mal-entendido — culpa real, por algo que ele fez e que não consegue desfazer.</a:t>
            </a:r>
            <a:endParaRPr lang="en-US" sz="1300" dirty="0"/>
          </a:p>
        </p:txBody>
      </p:sp>
      <p:pic>
        <p:nvPicPr>
          <p:cNvPr id="11" name="Image 0" descr="/home/claude/dac/figs/s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0" y="6071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narrativa. Não corresponde a caso individual identificável.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 · O HOMEM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6012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farda dá, e o que ela cobra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FARDA DÁ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caserna forma homem, e isso precisa ser dito com respeito. Ela oferece identidade, pertencimento e propósito. Dá um código que organiza a vida inteira e uma honra que é reconhecida publicamente. Para muitos, foi o primeiro lugar onde alguém exigiu algo deles e acreditou que eram capazes de entregar.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8836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FARDA COBRA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ela cobra na mesma proporção. Quando um militar erra, o erro pessoal vira falha institucional. A queda não é privada: ela é registrada, apurada, julgada e conhecida pela tropa inteira. Fracassar de farda é fracassar em público — e é uma dor que quem nunca vestiu uma tem dificuldade de dimensionar.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847088"/>
            <a:ext cx="0" cy="201168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 · O HOMEM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ambiente de reclusão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imagine esse mesmo homem dentro do Presídio Militar da PMCE.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horário é controlado. A circulação é controlada. O material que entra é controlado. Existe tensão institucional permanente, e o número de participantes de qualquer atividade muda de uma semana para a outra, por razões que ninguém no grupo controla.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 lugar onde se improvisa discipulado. É um lugar onde o improviso custa caro — porque a chance de reunir aqueles homens de novo, na semana seguinte, nas mesmas condições, não é garantida.</a:t>
            </a:r>
            <a:endParaRPr lang="en-US" sz="1300" dirty="0"/>
          </a:p>
        </p:txBody>
      </p:sp>
      <p:pic>
        <p:nvPicPr>
          <p:cNvPr id="11" name="Image 0" descr="/home/claude/dac/figs/s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 · O HOMEM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ferida que é específica deste homem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56235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reclusão de um militar tem uma camada que a reclusão comum não tem.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apenas privação de liberdade. É perda de identidade para alguém cuja identidade estava inteira na função. É desonra diante de uma corporação que o conhecia pelo nome. É ser vigiado por colegas de profissão, dentro de um sistema que ele mesmo servia.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é, com frequência, isolamento familiar — porque a família também carrega a vergonha do lado de fora.</a:t>
            </a:r>
            <a:endParaRPr lang="en-US" sz="1300" dirty="0"/>
          </a:p>
        </p:txBody>
      </p:sp>
      <p:pic>
        <p:nvPicPr>
          <p:cNvPr id="11" name="Image 0" descr="/home/claude/dac/figs/s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 · O HOMEM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85953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acredita sobre Deus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859536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você perguntar a esse homem onde Deus estava quando tudo desabou, é provável que ele responda uma de duas coisas.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Cristo foi embora na hora da desonra — que havia uma linha, e ele a cruzou, e do outro lado não há mais graça disponível.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 que Cristo nunca esteve ali para começo de conversa, e que religião é assunto de outro tipo de gente.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respostas nascem da mesma convicção: a de que existe um ponto a partir do qual alguém deixa de ser alcançável.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 · O HOMEM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8503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já se cobra o suficiente. O que falta não é alguém que aponte o erro — isso o sistema inteiro já fez, com competência. O que falta é alguém que entre na caverna com ele e aponte Cristo.</a:t>
            </a:r>
            <a:endParaRPr lang="en-US" sz="1450" dirty="0"/>
          </a:p>
          <a:p>
            <a:pPr algn="ctr" indent="0" marL="0">
              <a:lnSpc>
                <a:spcPts val="3600"/>
              </a:lnSpc>
              <a:spcBef>
                <a:spcPts val="140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coisa esse homem não precisa: de mais cobrança.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 é a necessidade. O que vem agora é a resposta que a Escritura oferece.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III · O DISCIPULADO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6012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Discipulado não é curso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mostrar o programa, é preciso alinhar o que se entende por discipulado — porque a palavra virou sinônimo de coisas muito diferentes.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633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4436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Transmite informação. Tem começo e fim definidos. Avalia por retenção de conteúdo. Termina quando o conteúdo acaba. Quem conclui sabe mais do que sabia.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633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94436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 pessoa. Não tem data de encerramento. Avalia por transformação de vida. Continua quando o conteúdo acaba. Quem conclui é diferente de quem começou.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596896"/>
            <a:ext cx="0" cy="201168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confusão entre os dois é a razão pela qual tanto material bom não produz fruto nenhum.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III · O DISCIPULADO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Escritura chama de discípulo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56235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Novo Testamento, discípulo é aquele que segue, aprende convivendo e reproduz o que recebeu. São três movimentos, e nenhum deles é opcional.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Repare no que Cristo não fez. Ele não montou um currículo, não abriu uma escola e não distribuiu apostilas. Ele chamou doze homens e caminhou com eles durante três anos, ensinando no percurso — na estrada, no barco, na mesa, no conflito.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método era a convivência. O conteúdo era Ele mesmo.</a:t>
            </a:r>
            <a:endParaRPr lang="en-US" sz="1300" dirty="0"/>
          </a:p>
        </p:txBody>
      </p:sp>
      <p:pic>
        <p:nvPicPr>
          <p:cNvPr id="11" name="Image 0" descr="/home/claude/dac/figs/s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III · O DISCIPULADO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852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mandato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585216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final de Cristo aos discípulos não foi fazer convertidos. Foi fazer discípulos, ensinando-os a guardar tudo o que Ele ordenou. Está em Mateus 28.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Paulo, escrevendo a Timóteo, foi ainda mais longe. Ele instrui que o que foi ouvido seja confiado a homens fiéis, que sejam capazes de ensinar outros.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 as gerações nessa frase: Paulo ensina Timóteo, que confia a homens fiéis, que ensinam outros. A quarta geração já está prevista no texto. O discipulado bíblico não pensa em turma. Pensa em linhagem.</a:t>
            </a:r>
            <a:endParaRPr lang="en-US" sz="1350" dirty="0"/>
          </a:p>
        </p:txBody>
      </p:sp>
      <p:pic>
        <p:nvPicPr>
          <p:cNvPr id="11" name="Image 0" descr="/home/claude/dac/figs/s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371600"/>
            <a:ext cx="4160520" cy="4023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0" y="6071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Mateus 28.18–20 · 2 Timóteo 2.2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III · O DISCIPULADO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Contemplar antes de obedecer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 uma ordem interna que este programa considera inegociável, e que vale explicar porque ela determina o formato de todas as 48 lições.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disciplina espiritual verdadeira nasce de cobrança. Ela nasce de fascínio. E nenhuma obediência frutífera nasce de medo — nasce de amor.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isso toda lição segue a mesma sequência: primeiro o discípulo vê Cristo, depois entende pela Palavra, e só então responde em obediência concreta. Nunca ao contrário.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prática não paga culpa. Ela responde à graça. Num ambiente onde os homens já vivem sob cobrança permanente, inverter essa ordem seria repetir, em nome de Deus, exatamente o que os adoeceu.</a:t>
            </a:r>
            <a:endParaRPr lang="en-US" sz="1300" dirty="0"/>
          </a:p>
        </p:txBody>
      </p:sp>
      <p:pic>
        <p:nvPicPr>
          <p:cNvPr id="11" name="Image 0" descr="/home/claude/dac/figs/s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III · O DISCIPULADO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basta evangelizar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pergunta razoável neste ponto: se o objetivo é alcançar esses homens, por que não basta evangelizar ou oferecer aconselhamento? Porque cada uma dessas coisas faz uma parte, e nenhuma faz o todo.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5157216" cy="1330452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52928"/>
            <a:ext cx="4828032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Evangelismo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 Cristo e vai embora. Indispensável como porta de entrada, insuficiente como caminho.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1344" y="2706624"/>
            <a:ext cx="5157216" cy="1330452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2852928"/>
            <a:ext cx="4828032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Aconselhamento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 a ferida e encerra o atendimento. Necessário, mas episódico por natureza.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165092"/>
            <a:ext cx="5157216" cy="1330452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311396"/>
            <a:ext cx="4828032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Assistência religiosa pontual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Alcança quem está presente naquele dia. Não constrói progressão.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81344" y="4165092"/>
            <a:ext cx="5157216" cy="1330452"/>
          </a:xfrm>
          <a:prstGeom prst="rect">
            <a:avLst/>
          </a:prstGeom>
          <a:solidFill>
            <a:srgbClr val="F4F4F1"/>
          </a:solidFill>
          <a:ln w="20320">
            <a:solidFill>
              <a:srgbClr val="8C6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4311396"/>
            <a:ext cx="4828032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Discipulado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Permanece, forma caráter e produz quem forma. É o único dos quatro que se reproduz sozinho.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56967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 ambiente de reclusão, os três primeiros isolados tendem a produzir decisão emocional sem raiz. E decisão sem raiz, ali dentro, costuma virar recaída em pouco tempo.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III · O DISCIPULADO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852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trabalha contra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585216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uma força que se opõe a tudo isso, e ela não é o que se costuma imaginar. Não é oposição institucional, nem hostilidade dos homens, nem falta de recurso.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 perda.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 que Deus faz e que, sem forma que o guarde, simplesmente se dissolve. E ela acontece assim: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homem se converte, e ninguém acompanha o que veio depois.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turma avança bem, o instrutor é transferido, e a turma seguinte recomeça do zero.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instrutor ensina aquilo que domina, e as lacunas doutrinárias ninguém percebe, porque ninguém tem o mapa inteiro.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homem sai da reclusão espiritualmente maduro e, na igreja, é tratado como recém-chegado.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material excelente é escrito, é usado por dois anos, e morre junto com a saída de quem o escreveu.</a:t>
            </a:r>
            <a:endParaRPr lang="en-US" sz="1350" dirty="0"/>
          </a:p>
        </p:txBody>
      </p:sp>
      <p:pic>
        <p:nvPicPr>
          <p:cNvPr id="11" name="Image 0" descr="/home/claude/dac/figs/s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371600"/>
            <a:ext cx="4160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III · O DISCIPULADO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8503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 guardar esta frase, porque ela volta no final:</a:t>
            </a:r>
            <a:endParaRPr lang="en-US" sz="1400" dirty="0"/>
          </a:p>
          <a:p>
            <a:pPr algn="ctr" indent="0" marL="0">
              <a:lnSpc>
                <a:spcPts val="3600"/>
              </a:lnSpc>
              <a:spcBef>
                <a:spcPts val="140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homem evangelizado é um homem alcançado. Um homem discipulado é uma linhagem.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Sabemos o que precisa ser feito. Falta saber em que língua dizê-lo.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IV · A LINGUAGEM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85953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cultura tem língua própria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859536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 um princípio antigo de missões que se aplica inteiro aqui: quem não fala a língua do povo não é ouvido, ainda que esteja dizendo a verdade.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 não é concessão nem estratégia de marketing. É o reconhecimento de que o Evangelho não muda, mas o veículo que o carrega precisa ser inteligível para quem o recebe. Foi assim na Reforma, quando a Escritura foi traduzida para as línguas do povo, e é assim em qualquer campo missionário até hoje.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IV · A LINGUAGEM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caserna é uma cultura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 caserna é uma cultura — não um jargão profissional, mas um sistema de valores que organiza a identidade de quem vive nela.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3371088" cy="1330452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52928"/>
            <a:ext cx="304190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Hierarquia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tem lugar e origem reconhecidos.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95216" y="2706624"/>
            <a:ext cx="3371088" cy="1330452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9808" y="2852928"/>
            <a:ext cx="304190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Disciplina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constância vale mais que o impulso.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67472" y="2706624"/>
            <a:ext cx="3371088" cy="1330452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852928"/>
            <a:ext cx="304190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Missão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algo acima do interesse individual.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165092"/>
            <a:ext cx="3371088" cy="1330452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311396"/>
            <a:ext cx="304190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Camaradagem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avança sozinho, ninguém fica para trás.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395216" y="4165092"/>
            <a:ext cx="3371088" cy="1330452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9808" y="4311396"/>
            <a:ext cx="304190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Honra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palavra dada tem peso de compromisso.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67472" y="4165092"/>
            <a:ext cx="3371088" cy="1330452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2064" y="4311396"/>
            <a:ext cx="304190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Prontidão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Estar preparado antes de precisar.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56967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homem formado nesses seis valores não abandona esse vocabulário quando entra numa igreja. Ele apenas não encontra, do outro lado, quem fale com ele nessa língua.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IV · A LINGUAGEM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igreja fala outra língua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56235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quando esse homem entra numa igreja onde ninguém fala a língua dele?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ouve o Evangelho traduzido para uma cultura que não é a sua. Reconhece que aquilo é verdadeiro e importante, mas conclui, sem dizer a ninguém, que é para outro tipo de gente. Agradece, cumprimenta na saída, e não volta.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houve rejeição da mensagem. Houve falha de tradução — e a diferença entre as duas coisas é enorme, porque a segunda tem conserto.</a:t>
            </a:r>
            <a:endParaRPr lang="en-US" sz="1300" dirty="0"/>
          </a:p>
        </p:txBody>
      </p:sp>
      <p:pic>
        <p:nvPicPr>
          <p:cNvPr id="11" name="Image 0" descr="/home/claude/dac/figs/s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IV · A LINGUAGEM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Paulo já fazia isto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 não é uma invenção do projeto. É um método que a própria Escritura oferece — e o apóstolo Paulo o usava com frequência.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52928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soldado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Paulo diz a Timóteo que suporte as dificuldades como bom soldado, e que quem milita não se envolve com os negócios da vida civil. 2Tm 2.3–4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502152" y="2706624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2852928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atleta e o lavrador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mesma passagem, quem compete só é coroado se competir conforme as regras, e o lavrador que trabalha é o primeiro a participar dos frutos. 2Tm 2.5–6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81344" y="2706624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852928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armadura completa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imagem mais desenvolvida de todas, peça por peça, para descrever a vida cristã em combate. Ef 6.10–18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860536" y="2706624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5128" y="2852928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Companheiro de milícia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assim que Paulo chama Epafrodito, um irmão da igreja. Fp 2.25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51937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Paulo falou caserna para falar Evangelho. O projeto não inventou esse método: ele o herdou.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IV · A LINGUAGEM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1A2A44"/>
          </a:solidFill>
          <a:ln w="9525">
            <a:solidFill>
              <a:srgbClr val="3A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85953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critério que impede o erro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859536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Chegando aqui, é provável que uma objeção esteja se formando: isso não corre o risco de militarizar o Evangelho? De transformar a fé numa estética de força, exatamente onde ela deveria falar de quebrantamento?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uma objeção correta, e o projeto a levou a sério antes de ser questionado. Por isso existe um critério, e ele é único:</a:t>
            </a:r>
            <a:endParaRPr lang="en-US" sz="1350" dirty="0"/>
          </a:p>
          <a:p>
            <a:pPr indent="0" marL="0">
              <a:lnSpc>
                <a:spcPts val="26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8C6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metáfora serve à Escritura, jamais o contrário.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imagem militar contradiz o texto bíblico, quem cede é a imagem. O modelo de autoridade aqui não é a hierarquia terrena — é Cristo, o Comandante que lava pés, que serve e que entrega a própria vida pelos seus. Onde a linguagem sacralizar a instituição militar em vez de usá-la como ponte, é falha de redação e deve ser corrigida.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IV · A LINGUAGEM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8503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Então o desafio é duplo. É preciso falar a língua da caserna. E é preciso falar a homens que chegaram ao fundo.</a:t>
            </a:r>
            <a:endParaRPr lang="en-US" sz="1450" dirty="0"/>
          </a:p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um lugar na Escritura onde essas duas coisas acontecem ao mesmo tempo. Você já esteve nele, no início desta apresentação.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ponte existe. Falta mostrar o lugar de onde ela parte.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 · ADULÃO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243584"/>
            <a:ext cx="5852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volta à caverna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2029968"/>
            <a:ext cx="585216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Voltemos a Adulão — agora com o vocabulário necessário para entender o que estava acontecendo ali.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Aquela caverna não era um retiro espiritual. Era o esconderijo de um homem perseguido, que virou ponto de encontro de gente sem alternativa.</a:t>
            </a:r>
            <a:endParaRPr lang="en-US" sz="1350" dirty="0"/>
          </a:p>
        </p:txBody>
      </p:sp>
      <p:pic>
        <p:nvPicPr>
          <p:cNvPr id="11" name="Image 0" descr="/home/claude/dac/figs/s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234440"/>
            <a:ext cx="48463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 · ADULÃO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condições, relidas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BC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Releia agora as três condições daqueles homens, pensando no militar recluso que você conheceu no início desta apresentação.</a:t>
            </a:r>
            <a:endParaRPr lang="en-US" sz="1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06624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4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ADULÃO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b">
                    <a:lnL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4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PRESÍDIO MILITAR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b">
                    <a:lnL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Aperto — pressão que não se resolve sozinho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Processo em curso, futuro indefinido, ausência de controle sobre a própria vida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Dívida — obrigação sem meio de pagar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Culpa real por um ato que não se pode desfazer, e uma família que paga junto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Amargura de espírito — ferida que azedou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Revolta contra a corporação, contra si mesmo, e frequentemente contra Deus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22960" y="47274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BC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são categorias antigas. É o retrato exato do homem de quem falamos há dez minutos.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 · ADULÃO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6012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 em Adulão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DAVI NÃO FEZ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exigiu correção como pré-requisito para o acolhimento. Não montou processo seletivo. Não separou os que tinham chance dos que não tinham. Não pediu que resolvessem primeiro as próprias dívidas e voltassem depois.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8836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DAVI FEZ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Recebeu aqueles homens exatamente no estado em que chegaram. Assumiu a chefia deles. Conviveu com eles. E os formou dentro da crise, não depois que ela passasse — porque a crise não ia passar tão cedo, e esperar teria sido perdê-los.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847088"/>
            <a:ext cx="0" cy="2011680"/>
          </a:xfrm>
          <a:prstGeom prst="line">
            <a:avLst/>
          </a:prstGeom>
          <a:noFill/>
          <a:ln w="9525">
            <a:solidFill>
              <a:srgbClr val="333940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 · ADULÃO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111418"/>
          </a:solidFill>
          <a:ln w="9525">
            <a:solidFill>
              <a:srgbClr val="333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8503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nomes que a Escritura registra depois como os valentes de Davi — os homens que fizeram feitos militares que atravessaram três milênios de memória — saíram todos daquela lista de fugitivos.</a:t>
            </a:r>
            <a:endParaRPr lang="en-US" sz="1450" dirty="0"/>
          </a:p>
          <a:p>
            <a:pPr algn="ctr" indent="0" marL="0">
              <a:lnSpc>
                <a:spcPts val="3600"/>
              </a:lnSpc>
              <a:spcBef>
                <a:spcPts val="140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deles entrou na caverna como herói. Todos saíram de lá como um.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A3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 · ADULÃO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2A3245"/>
          </a:solidFill>
          <a:ln w="9525">
            <a:solidFill>
              <a:srgbClr val="4650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2A3245"/>
          </a:solidFill>
          <a:ln w="9525">
            <a:solidFill>
              <a:srgbClr val="4650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2A3245"/>
          </a:solidFill>
          <a:ln w="9525">
            <a:solidFill>
              <a:srgbClr val="4650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2A3245"/>
          </a:solidFill>
          <a:ln w="9525">
            <a:solidFill>
              <a:srgbClr val="4650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equivalência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 está a razão de o projeto se chamar Caserna de Adulão. Não é um nome escolhido por soar bem — é uma leitura teológica, e ela se sustenta ponto a ponto.</a:t>
            </a:r>
            <a:endParaRPr lang="en-US" sz="12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06624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4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ADULÃO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b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4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PROJETO CASERNA DE ADULÃO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b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caverna: esconderijo de quem não tinha para onde ir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presídio militar e o quartel: onde o militar ferido efetivamente está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Homens em aperto, dívida e amargura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Militares com culpa real, desonra pública e isolamento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Davi: ungido, mas ainda perseguido e sem trono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Cristo: o Comandante maior que Davi, que desce ao lugar do fracasso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Formação acontecendo dentro da crise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Discipulado dentro da reclusão, sem esperar que ela termine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Proscritos que se tornaram valentes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4F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Discípulos que se tornam formadores de outros discípulos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65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 · ADULÃO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85953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analogia sustenta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859536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analogia decorativa ilustra o que já foi dito. Esta faz outra coisa: ela responde à pergunta teológica que o homem recluso realmente carrega, e que ele quase nunca formula em voz alta.</a:t>
            </a:r>
            <a:endParaRPr lang="en-US" sz="1350" dirty="0"/>
          </a:p>
          <a:p>
            <a:pPr indent="0" marL="0">
              <a:lnSpc>
                <a:spcPts val="26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8C6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eu falhei desse jeito, ainda existe posto para mim?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Adulão responde que sim. A caverna não é o fim da carreira — é onde ela recomeça, sob um novo comando. E os homens que passaram por lá não voltaram ao lugar anterior: foram além dele.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 teológica está feita. O que se construiu a partir dela vem a seguir.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 · O PROJETO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da estrutura, o mover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 dizer com clareza como isso começou, porque a ordem dos fatos importa.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existir qualquer estrutura, não havia matriz curricular. Não havia módulo, símbolo, insígnia ou certificado. Havia homens se assentando, uma Bíblia aberta, e fé reacendendo em lugares onde a culpa tentava apagá-la.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não criou esse mover. Ele nasceu para guardá-lo — porque o que estava acontecendo era bom demais para depender da memória e da disponibilidade de quem estava conduzindo.</a:t>
            </a:r>
            <a:endParaRPr lang="en-US" sz="1300" dirty="0"/>
          </a:p>
        </p:txBody>
      </p:sp>
      <p:pic>
        <p:nvPicPr>
          <p:cNvPr id="11" name="Image 0" descr="/home/claude/dac/figs/s3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 · O PROJETO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Projeto Caserna de Adulão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56235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Caserna de Adulão é um programa de evangelização e discipulado voltado aos profissionais de segurança pública, com atuação prioritária junto a militares estaduais.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é vinculado à Casa de Oração para Todos os Povos, opera sob liderança pastoral definida e possui personalidade jurídica própria. Não é uma iniciativa informal, nem depende de uma única pessoa para continuar existindo — e as duas coisas foram decisões conscientes desde o início.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48856" y="1828800"/>
            <a:ext cx="0" cy="2286000"/>
          </a:xfrm>
          <a:prstGeom prst="line">
            <a:avLst/>
          </a:prstGeom>
          <a:noFill/>
          <a:ln w="25400">
            <a:solidFill>
              <a:srgbClr val="8C6A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82880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spc="13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</a:t>
            </a:r>
            <a:endParaRPr lang="en-US" sz="8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evangelização e discipulado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95160" y="243230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spc="13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ECLESIÁSTICO</a:t>
            </a:r>
            <a:endParaRPr lang="en-US" sz="8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Oração para Todos os Povos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95160" y="3035808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spc="13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Profissionais de segurança pública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95160" y="363931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spc="13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PERSONALIDADE JURÍDICA</a:t>
            </a:r>
            <a:endParaRPr lang="en-US" sz="8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Constituída · CNPJ 63.724.286/0001-78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 · O PROJETO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uma estrutura em setores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56235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se organiza em setores nomeados de P1 a P9, seguindo a lógica de estado-maior que qualquer militar reconhece imediatamente.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 escolha tem três razões. A primeira é que a estrutura fala a língua de quem serve, e portanto se explica sozinha para o público-alvo. A segunda é que cada setor tem atribuição delimitada, o que evita que tudo dependa da boa vontade de quem estiver disponível. E a terceira, mais importante: um projeto com responsabilidades distribuídas não morre quando uma pessoa sai.</a:t>
            </a:r>
            <a:endParaRPr lang="en-US" sz="1300" dirty="0"/>
          </a:p>
        </p:txBody>
      </p:sp>
      <p:pic>
        <p:nvPicPr>
          <p:cNvPr id="11" name="Image 0" descr="/home/claude/dac/figs/s3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 · O PROJETO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projeto atua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atuação acontece em frentes distintas, e a ordem entre elas não é acidental.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487168"/>
            <a:ext cx="1942186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6334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de reclusão militar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projeto nasceu e onde a necessidade é mais aguda.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66314" y="2487168"/>
            <a:ext cx="1942186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0906" y="26334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 operacionais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Quartéis e batalhões, com o militar em serviço ativo.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09667" y="2487168"/>
            <a:ext cx="1942186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4259" y="26334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Igreja local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Recebendo e dando continuidade a quem sai da reclusão.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53021" y="2487168"/>
            <a:ext cx="1942186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7613" y="26334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Famílias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a ferida do militar nunca é só dele.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96374" y="2487168"/>
            <a:ext cx="1942186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560966" y="26334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750" b="1" spc="12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PLANEJAMENTO</a:t>
            </a:r>
            <a:endParaRPr lang="en-US" sz="7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Capelanias e articulações</a:t>
            </a:r>
            <a:endParaRPr lang="en-US" sz="7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construção, respeitando os canais próprios de cada instituição.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 · O PROJETO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entra o Discipulando a Caserna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56235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importante separar duas coisas que às vezes se confundem.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Caserna de Adulão é a instituição: a estrutura, a governança, as frentes de atuação e o vínculo eclesiástico.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Discipulando a Caserna é o programa formativo que existe dentro dele. É a espinha dorsal pedagógica sobre a qual todo o resto se apoia — e é dele que trata o restante desta apresentação.</a:t>
            </a:r>
            <a:endParaRPr lang="en-US" sz="1300" dirty="0"/>
          </a:p>
        </p:txBody>
      </p:sp>
      <p:pic>
        <p:nvPicPr>
          <p:cNvPr id="11" name="Image 0" descr="/home/claude/dac/figs/s3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 · O PROJETO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só progressão, em qualquer ambiente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56235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 um princípio que resolve um dos problemas mais frustrantes do trabalho com militares reclusos.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homem que conclui o Módulo 1 dentro da reclusão não recomeça do zero quando sai. Ele é reconhecido como alguém que já percorreu a fase do chamado, e avança para a etapa seguinte na igreja ou no quartel onde for recebido.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única linguagem. Uma única progressão. Válida no presídio, na unidade operacional e na igreja local. Para que isso funcione na prática, é preciso haver comunicação entre quem discipula dentro e quem recebe fora — e essa é uma decisão de fluxo pastoral, não de material didático.</a:t>
            </a:r>
            <a:endParaRPr lang="en-US" sz="1300" dirty="0"/>
          </a:p>
        </p:txBody>
      </p:sp>
      <p:pic>
        <p:nvPicPr>
          <p:cNvPr id="11" name="Image 0" descr="/home/claude/dac/figs/s3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 é a instituição. O que segue é o programa que ela carrega.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são quatro temas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programa se divide em quatro módulos. Mas eles não são quatro assuntos escolhidos por conveniência — são quatro ações de Cristo, na ordem em que a graça costuma agir na vida de um homem.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52928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Cristo Chamando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convoca, perdoa e incorpora.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502152" y="2706624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2852928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Cristo Treinando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ensina, corrige e firma fundamentos.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81344" y="2706624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852928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Cristo Moldando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amadurece afetos, vontade e caráter.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860536" y="2706624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5128" y="2852928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Cristo Enviando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comissiona, sustenta e multiplica.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51937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Repare no sujeito das quatro frases. Em todas, é Cristo — não o instrutor, e não o discípulo. Isso não é preciosismo retórico: é exatamente o que impede o programa de virar autoajuda com vocabulário militar.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armadura que unifica tudo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uma narrativa bíblica única que dá unidade aos quatro módulos, e ela está em Efésios 6: a armadura de Deus.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escolha diz algo sobre a natureza do programa. O discípulo não coleciona conteúdos concluídos — ele é revestido, peça por peça, por alguém que não é ele mesmo.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módulo corresponde a uma peça: o Cinto da Verdade, a Couraça da Justiça, os Calçados do Evangelho da Paz e o Escudo da Fé.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você olhar para o alto desta página, vai reconhecer esses quatro ícones. Aquela barra não é um indicador de progresso comum: é a armadura sendo vestida conforme você avança. A navegação deste documento é a própria doutrina do programa.</a:t>
            </a:r>
            <a:endParaRPr lang="en-US" sz="1300" dirty="0"/>
          </a:p>
        </p:txBody>
      </p:sp>
      <p:pic>
        <p:nvPicPr>
          <p:cNvPr id="11" name="Image 0" descr="/home/claude/dac/figs/s3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8503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spcAft>
                <a:spcPts val="1600"/>
              </a:spcAft>
              <a:buNone/>
            </a:pPr>
            <a:r>
              <a:rPr lang="en-US" sz="5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12 = 48</a:t>
            </a:r>
            <a:endParaRPr lang="en-US" sz="5600" dirty="0"/>
          </a:p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módulos sequenciais, doze lições cada, um ciclo anual completo. Um encontro por semana, de uma hora e meia a duas horas.</a:t>
            </a:r>
            <a:endParaRPr lang="en-US" sz="5600" dirty="0"/>
          </a:p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48 semanas efetivas de aula distribuídas em onze a doze meses de calendário — a folga existe para feriados, restrições institucionais, revisões e cerimônias de transição.</a:t>
            </a:r>
            <a:endParaRPr lang="en-US" sz="5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progressão é em espiral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cuidado que vale explicar: nenhum módulo repete o anterior, mas alguns temas retornam.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Oração aparece no Módulo 2 como disciplina pessoal e volta no Módulo 4 como intercessão pela tropa. Identidade aparece no Módulo 1 como reintegração pela graça e retorna no Módulo 3 como caráter formado. O tema é o mesmo; a profundidade e a finalidade, não.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discípulo não gira em torno dos mesmos assuntos. Ele sobe.</a:t>
            </a:r>
            <a:endParaRPr lang="en-US" sz="1300" dirty="0"/>
          </a:p>
        </p:txBody>
      </p:sp>
      <p:pic>
        <p:nvPicPr>
          <p:cNvPr id="11" name="Image 0" descr="/home/claude/dac/figs/s4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786384"/>
            <a:ext cx="12161520" cy="420624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78638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LIÇÕES 1 A 12 · CINTO DA VERDADE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481328"/>
            <a:ext cx="87782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Cristo Chamando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8778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primeiro módulo trata de acolhimento e fundamento. Ele começa recebendo o ferido antes de qualquer exigência — a primeira lição se chama “Bem-vindo a Adulão: o quartel dos feridos” — e caminha até a vida em comunhão.</a:t>
            </a:r>
            <a:endParaRPr lang="en-US" sz="1250" dirty="0"/>
          </a:p>
          <a:p>
            <a:pPr indent="0" marL="0">
              <a:lnSpc>
                <a:spcPts val="185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meio do percurso está a lição que sintetiza a tese do projeto inteiro: a graça que devolve a patente. Não como recompensa por mudança, mas como dom que torna a mudança possível.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0320" y="3877056"/>
            <a:ext cx="8778240" cy="786384"/>
          </a:xfrm>
          <a:prstGeom prst="rect">
            <a:avLst/>
          </a:prstGeom>
          <a:solidFill>
            <a:srgbClr val="EFE7DE"/>
          </a:solidFill>
          <a:ln w="12700">
            <a:solidFill>
              <a:srgbClr val="EFE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3950208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spc="13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MÓDULO FORMA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restaurada, compreensão do Evangelho da graça e as primeiras experiências de vida em tropa.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0" y="47914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NA PRIMEIRA MARCHA — O RECRUTA QUE SE RENDEU.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035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1110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0185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9260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18335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7410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6485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5560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94635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3710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2785" y="6144768"/>
            <a:ext cx="200787" cy="64008"/>
          </a:xfrm>
          <a:prstGeom prst="rect">
            <a:avLst/>
          </a:prstGeom>
          <a:solidFill>
            <a:srgbClr val="8C6A46"/>
          </a:solidFill>
          <a:ln w="12700">
            <a:solidFill>
              <a:srgbClr val="8C6A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518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709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00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090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81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72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663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53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44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35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426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616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998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89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379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570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761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952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142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333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524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715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905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096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287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78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668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859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050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241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431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622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813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004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1194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786384"/>
            <a:ext cx="12161520" cy="420624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78638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LIÇÕES 13 A 24 · COURAÇA DA JUSTIÇA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481328"/>
            <a:ext cx="87782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Cristo Treinando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8778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módulo constrói rotina. Ele vai da oração como comunicação diária até a preparação para o batismo, passando por igreja, santificação, combate espiritual, adoração, mordomia, lar e perdão.</a:t>
            </a:r>
            <a:endParaRPr lang="en-US" sz="1250" dirty="0"/>
          </a:p>
          <a:p>
            <a:pPr indent="0" marL="0">
              <a:lnSpc>
                <a:spcPts val="185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 módulo em que o discípulo deixa de depender de intensidade emocional e passa a depender de constância. É também o mais exigente, porque disciplina não produz sensação imediata de progresso.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0320" y="3877056"/>
            <a:ext cx="8778240" cy="786384"/>
          </a:xfrm>
          <a:prstGeom prst="rect">
            <a:avLst/>
          </a:prstGeom>
          <a:solidFill>
            <a:srgbClr val="EFE7DE"/>
          </a:solidFill>
          <a:ln w="12700">
            <a:solidFill>
              <a:srgbClr val="EFE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3950208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spc="13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MÓDULO FORMA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Disciplinas espirituais estabelecidas, pertencimento à igreja e integridade na rotina.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0" y="47914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NA SEGUNDA MARCHA — O COMBATENTE QUE SE FORTALECE.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0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11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01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92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183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74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64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55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946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37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27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51860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70935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0010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09085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8160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7235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66310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5385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4460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3535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42610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61685" y="6144768"/>
            <a:ext cx="200787" cy="64008"/>
          </a:xfrm>
          <a:prstGeom prst="rect">
            <a:avLst/>
          </a:prstGeom>
          <a:solidFill>
            <a:srgbClr val="1A2A44"/>
          </a:solidFill>
          <a:ln w="12700">
            <a:solidFill>
              <a:srgbClr val="1A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998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89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379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570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761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952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142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333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524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715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905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096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287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78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668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859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050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241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431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622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813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004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1194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786384"/>
            <a:ext cx="12161520" cy="42062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78638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LIÇÕES 25 A 36 · CALÇADOS DO EVANGELHO DA PAZ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481328"/>
            <a:ext cx="87782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Cristo Moldando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8778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terceiro módulo trabalha o caráter, que é a parte mais lenta e menos visível da formação. Vai dos dons do Espírito até a multiplicação, passando pelo fruto do Espírito, pela mente de Cristo, pela autoridade e submissão, pelo sofrimento e pela alegria em meio à luta.</a:t>
            </a:r>
            <a:endParaRPr lang="en-US" sz="1250" dirty="0"/>
          </a:p>
          <a:p>
            <a:pPr indent="0" marL="0">
              <a:lnSpc>
                <a:spcPts val="185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aqui que o discípulo aprende a permanecer de pé quando as circunstâncias não melhoram — e, num ambiente de reclusão, essa é a competência decisiva.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0320" y="3877056"/>
            <a:ext cx="8778240" cy="786384"/>
          </a:xfrm>
          <a:prstGeom prst="rect">
            <a:avLst/>
          </a:prstGeom>
          <a:solidFill>
            <a:srgbClr val="EFE7DE"/>
          </a:solidFill>
          <a:ln w="12700">
            <a:solidFill>
              <a:srgbClr val="EFE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3950208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spc="13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MÓDULO FORMA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Caráter obediente, maturidade nos afetos e perseverança sob provação.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0" y="47914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NA TERCEIRA MARCHA — O GUERREIRO QUE PERSEVERA.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0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11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01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92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183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74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64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55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946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37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27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518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709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00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090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81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72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663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53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44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35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426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616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99835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8910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37985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57060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76135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95210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14285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33360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52435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71510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90585" y="6144768"/>
            <a:ext cx="200787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096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287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78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668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859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050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241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431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6226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8133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00410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119485" y="6144768"/>
            <a:ext cx="200787" cy="64008"/>
          </a:xfrm>
          <a:prstGeom prst="rect">
            <a:avLst/>
          </a:prstGeom>
          <a:solidFill>
            <a:srgbClr val="DEDDD7"/>
          </a:solidFill>
          <a:ln w="12700">
            <a:solidFill>
              <a:srgbClr val="DEDDD7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786384"/>
            <a:ext cx="12161520" cy="420624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78638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LIÇÕES 37 A 48 · ESCUDO DA FÉ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481328"/>
            <a:ext cx="87782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Cristo Enviando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8778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quarto módulo é sobre saída. Vai da Grande Comissão até a formatura, passando por evangelismo relacional, vocação, liderança pelo exemplo, unidade, serviço, intercessão, missões e perseverança até o fim.</a:t>
            </a:r>
            <a:endParaRPr lang="en-US" sz="1250" dirty="0"/>
          </a:p>
          <a:p>
            <a:pPr indent="0" marL="0">
              <a:lnSpc>
                <a:spcPts val="185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última lição não celebra a conclusão de um curso. Ela envia o discípulo para formar outro — e é isso que fecha o ciclo do programa.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0320" y="3877056"/>
            <a:ext cx="8778240" cy="786384"/>
          </a:xfrm>
          <a:prstGeom prst="rect">
            <a:avLst/>
          </a:prstGeom>
          <a:solidFill>
            <a:srgbClr val="EFE7DE"/>
          </a:solidFill>
          <a:ln w="12700">
            <a:solidFill>
              <a:srgbClr val="EFE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3950208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spc="13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MÓDULO FORMA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missionária, liderança pelo exemplo e capacidade de discipular outros.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0" y="47914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NA FORMATURA DO SOLDADO DE CRISTO.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0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11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01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92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183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74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64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55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946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37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27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518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709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00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090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81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72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663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53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44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35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426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616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998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89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379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570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761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952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142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3336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5243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71510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90585" y="6144768"/>
            <a:ext cx="200787" cy="64008"/>
          </a:xfrm>
          <a:prstGeom prst="rect">
            <a:avLst/>
          </a:prstGeom>
          <a:solidFill>
            <a:srgbClr val="B9B7B0"/>
          </a:solidFill>
          <a:ln w="12700">
            <a:solidFill>
              <a:srgbClr val="B9B7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09660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28735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7810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66885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85960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05035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24110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43185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62260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81335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00410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119485" y="6144768"/>
            <a:ext cx="200787" cy="64008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48 lições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 está o ano inteiro, lição por lição. Você pode percorrer no seu ritmo — o filtro abaixo mostra um módulo de cada vez. O texto integral de cada lição está nas edições do Instrutor e do Aluno; o que você vê aqui é o mapa.</a:t>
            </a:r>
            <a:endParaRPr lang="en-US" sz="12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06624"/>
          <a:ext cx="1051560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3566160"/>
                <a:gridCol w="1188720"/>
                <a:gridCol w="5376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2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2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LIÇÃO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2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TEXTO-BASE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2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Bem-vindo a Adulão: o quartel dos feridos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2Tm 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Acolher o ferido antes de qualquer exigência: Adulão é abrigo, não vitrine de heróis.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Comandante que entra na caverna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 14.18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Mostrar Cristo como o Senhor que desce ao lugar do fracasso para resgatar.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Contemplação: resposta de gratidão ao resgate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2Co 3.18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Ensinar a contemplação como resposta ao resgate, não técnica para merecer.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Bíblia: o Manual do Guerreiro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 119.105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Firmar a autoridade da Escritura como manual que orienta a marcha.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Insubordinação: a quebra de lealdade que custa a honra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3.23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Apresentar o pecado como quebra de lealdade, com diagnóstico que cura.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Ordem de reintegração: a graça que devolve a patente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 2.8-9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Anunciar a graça que reintegra: dom de Cristo, não salário do esforço.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Fé: Confiança e Obediência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 11.6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Ensinar a fé como confiança que se traduz em obediência.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Apresentando-se para o serviço: a rendição que restaura a confiança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3.19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Demonstrar que o arrependimento é reapresentar-se ao Quartel-General para servir sob novas ordens.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Cruz: O Juramento de Lealdade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9.23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Ensinar o custo do discipulado como entrega diária, em resposta amorosa.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farda, nova missão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 3.3-8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Apresentar o novo nascimento como nova natureza que habilita a um propósito útil.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Espírito Santo: O Instrutor Interior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 16.13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Ensinar que o Espírito guia, corrige e fortalece por dentro, formando obediência.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Comunhão e Vida de Tropa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2.42-47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Demonstrar que ninguém cresce isolado: a tropa é ambiente de edificação e cuidado.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22960" y="60167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as 48 lições completas constam do Guia Mestre, do HTML navegável e do PDF desta apresentação.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lição tem sete elementos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uma das 48 lições segue exatamente a mesma estrutura interna. São sete elementos, sempre nesta ordem. Toque em cada um para ver como o Guia o define.</a:t>
            </a:r>
            <a:endParaRPr lang="en-US" sz="1250" dirty="0"/>
          </a:p>
        </p:txBody>
      </p:sp>
      <p:pic>
        <p:nvPicPr>
          <p:cNvPr id="11" name="Image 0" descr="/home/claude/dac/figs/s4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74520" y="2706624"/>
            <a:ext cx="8412480" cy="2834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repetição do formato pode parecer rígida, mas ela resolve um problema real: instrutores diferentes, em ambientes diferentes, ministram o mesmo conteúdo sem perda de ênfase. A previsibilidade não cria frieza — ela cria chão, principalmente para quem vive num ambiente onde quase nada é previsível.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do Dia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todos os sete elementos, um merece explicação separada.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lição termina com uma Ordem do Dia: uma ação prática, simples e verificável, a ser cumprida ao longo da semana. Pode ser um versículo memorizado, uma reconciliação buscada, um serviço prestado a alguém da ala, uma oração mantida em horário fixo.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encontro termina; a lição não. É a Ordem do Dia que atravessa a semana e transforma conteúdo em hábito — e é o que impede o programa de virar uma aula semanal a que se assiste.</a:t>
            </a:r>
            <a:endParaRPr lang="en-US" sz="1300" dirty="0"/>
          </a:p>
        </p:txBody>
      </p:sp>
      <p:pic>
        <p:nvPicPr>
          <p:cNvPr id="11" name="Image 0" descr="/home/claude/dac/figs/s4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marchas, e a sobriedade dos ritos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módulo termina em um marco reconhecido pelo grupo. Repare na progressão dos substantivos: recruta, combatente, guerreiro, soldado. É a mesma pessoa, em quatro estágios. E porque um sistema de insígnias, num ambiente onde a hierarquia já é linguagem corrente, tem caminho curto para virar vaidade, o programa define com precisão o que essas cerimônias são e o que elas não são.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2478024" cy="786384"/>
          </a:xfrm>
          <a:prstGeom prst="rect">
            <a:avLst/>
          </a:prstGeom>
          <a:solidFill>
            <a:srgbClr val="F4F4F1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81635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2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MARCHA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Recruta que se Rendeu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02152" y="2743200"/>
            <a:ext cx="2478024" cy="786384"/>
          </a:xfrm>
          <a:prstGeom prst="rect">
            <a:avLst/>
          </a:prstGeom>
          <a:solidFill>
            <a:srgbClr val="F4F4F1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81635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2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MARCHA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Combatente que se Fortalece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81344" y="2743200"/>
            <a:ext cx="2478024" cy="786384"/>
          </a:xfrm>
          <a:prstGeom prst="rect">
            <a:avLst/>
          </a:prstGeom>
          <a:solidFill>
            <a:srgbClr val="F4F4F1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81635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2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TERCEIRA MARCHA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Guerreiro que Persevera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860536" y="2743200"/>
            <a:ext cx="2478024" cy="786384"/>
          </a:xfrm>
          <a:prstGeom prst="rect">
            <a:avLst/>
          </a:prstGeom>
          <a:solidFill>
            <a:srgbClr val="F4F4F1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88552" y="281635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2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Formatura do Soldado de Cristo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3712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TRANSIÇÃO 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98678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bíblica breve, oração, entrega da insígnia, testemunho de quem concluiu e registro pastoral simples.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712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TRANSIÇÃO NÃO 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98678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Premiação, ranking, comparação entre discípulos, espetáculo público ou condicionamento de bênçãos ao desempenho.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discípulo deve ser constrangido ou exposto. Onde o contexto institucional não permitir cerimônia, o registro pastoral cumpre a mesma função.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certificado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certificado de cada marcha existe como memória pastoral, não como comprovação de mérito. O texto-base é sempre o mesmo, e ele deixa claro de quem é a obra: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“Certificamos que [nome] concluiu, pela graça de Cristo, a [marcha correspondente] do Discipulando a Caserna, como testemunho da obra que Deus começou e haverá de completar.”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referência é Filipenses 1.6 — e ela volta na última página desta apresentação, pelo mesmo motivo.</a:t>
            </a:r>
            <a:endParaRPr lang="en-US" sz="1300" dirty="0"/>
          </a:p>
        </p:txBody>
      </p:sp>
      <p:pic>
        <p:nvPicPr>
          <p:cNvPr id="11" name="Image 0" descr="/home/claude/dac/figs/s5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 · O PROGRAMA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espera ao fim do ciclo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fim das 48 lições, o programa espera reconhecer cinco marcas no discípulo. Elas não são critérios de aprovação — são sinais de uma obra de graça, e servem para leitura pastoral, não para avaliação.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1942186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52928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Fé bíblica e cristocêntrica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Cristo no centro, e a Escritura como autoridade.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66314" y="2706624"/>
            <a:ext cx="1942186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0906" y="2852928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restaurada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Honra redimida por graça, não por desempenho.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09667" y="2706624"/>
            <a:ext cx="1942186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4259" y="2852928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Disciplina e comunhão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Constância pessoal e vida em corpo.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53021" y="2706624"/>
            <a:ext cx="1942186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7613" y="2852928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Caráter obediente e servidor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Maturidade que se vê no cotidiano.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96374" y="2706624"/>
            <a:ext cx="1942186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0966" y="2852928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Compromisso com a missão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Disposição de formar outros.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193792"/>
            <a:ext cx="10515600" cy="713232"/>
          </a:xfrm>
          <a:prstGeom prst="rect">
            <a:avLst/>
          </a:prstGeom>
          <a:solidFill>
            <a:srgbClr val="EFE7DE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23036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delas descreve perfeição alcançada. Todas descrevem caminho em andamento. Essa distinção não é uma amenização de linguagem: ela é o que impede o perfil de virar régua de cobrança sobre homens que já vivem sob cobrança suficiente.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vive em sala precisa ter forma visível fora dela.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VIII · A IDENTIDADE VISUAL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8503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viu esta imagem na primeira tela desta apresentação, sem nenhuma explicação.</a:t>
            </a:r>
            <a:endParaRPr lang="en-US" sz="1450" dirty="0"/>
          </a:p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ela pode ser lida.</a:t>
            </a:r>
            <a:endParaRPr lang="en-US" sz="14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VIII · A IDENTIDADE VISUAL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escudo é um catecismo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logomarca do projeto não é decoração. Ela é a doutrina do programa em forma gráfica, e cada elemento tem justificativa.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corpo é um escudo, dividido em quatro campos. Em cada campo está cravada uma das insígnias dos módulos: o cinto, a couraça, os calçados e — no quarto campo — o próprio escudo da fé, repetido dentro do escudo maior.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conjunto é encimado pelo capacete e atravessado pela espada.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 da marca é a leitura do programa: o discípulo não coleciona medalhas. Ele é revestido por Cristo.</a:t>
            </a:r>
            <a:endParaRPr lang="en-US" sz="1300" dirty="0"/>
          </a:p>
        </p:txBody>
      </p:sp>
      <p:pic>
        <p:nvPicPr>
          <p:cNvPr id="11" name="Image 0" descr="/home/claude/dac/figs/s5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VIII · A IDENTIDADE VISUAL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cada insígnia está no módulo em que está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128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correspondência entre peça da armadura e módulo não foi escolhida por conveniência estética. Cada peça está onde está por uma razão que vem do próprio texto de Efésios 6.</a:t>
            </a:r>
            <a:endParaRPr lang="en-US" sz="12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72384"/>
          <a:ext cx="10515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2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1 · CHAMANDO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Cinto da Verdade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 6.14 · Cinto de guarnição</a:t>
                      </a:r>
                      <a:endParaRPr lang="en-US" sz="1200" dirty="0"/>
                    </a:p>
                  </a:txBody>
                  <a:tcPr marL="114300" marR="114300" marT="114300" marB="114300" anchor="t">
                    <a:lnL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Primeira peça a ser posta e a que sustenta todas as outras. No módulo do chamado, o homem recebe a verdade do Evangelho que sustenta a nova identidade. Sem ele, nenhuma outra peça se prende ao corpo.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114300" marB="114300" anchor="t">
                    <a:lnL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2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2 · TREINANDO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Couraça da Justiça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 6.14 · Colete balístico</a:t>
                      </a:r>
                      <a:endParaRPr lang="en-US" sz="1200" dirty="0"/>
                    </a:p>
                  </a:txBody>
                  <a:tcPr marL="114300" marR="114300" marT="114300" marB="114300" anchor="t">
                    <a:lnL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couraça protege o que é vital. No módulo do treinamento, o discípulo aprende a guardar o coração e a integridade na rotina — a proteção daquilo que, se atingido, encerra o combate.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114300" marB="114300" anchor="t">
                    <a:lnL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2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3 · MOLDANDO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Calçados do Evangelho da Paz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 6.15 · Coturno</a:t>
                      </a:r>
                      <a:endParaRPr lang="en-US" sz="1200" dirty="0"/>
                    </a:p>
                  </a:txBody>
                  <a:tcPr marL="114300" marR="114300" marT="114300" marB="114300" anchor="t">
                    <a:lnL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calçado permite permanecer de pé em terreno hostil. No módulo do caráter, o discípulo é firmado para andar dignamente em qualquer terreno, com mansidão e constância.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114300" marB="114300" anchor="t">
                    <a:lnL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20" kern="0" dirty="0">
                          <a:solidFill>
                            <a:srgbClr val="8C6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4 · ENVIANDO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Escudo da Fé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 6.16 · Insígnia final</a:t>
                      </a:r>
                      <a:endParaRPr lang="en-US" sz="1200" dirty="0"/>
                    </a:p>
                  </a:txBody>
                  <a:tcPr marL="114300" marR="114300" marT="114300" marB="114300" anchor="t">
                    <a:lnL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Única peça que protege também o companheiro ao lado, e não apenas quem o carrega. No módulo do envio, a fé se torna ativa, missionária e coletiva.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114300" marB="114300" anchor="t">
                    <a:lnL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E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VIII · A IDENTIDADE VISUAL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peças que não pertencem a módulo nenhum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56235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Efésios 6 lista seis peças, e o programa usa apenas quatro como insígnias de módulo. As outras duas ficaram de fora de propósito, e a decisão é teológica.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Espada do Espírito é a Palavra de Deus. Ela não pertence a uma etapa da formação: atravessa todas, do chamado ao envio, como instrumento de cada lição. Por isso, na marca, ela corta o escudo transversalmente em vez de ocupar um campo.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Capacete da Salvação guarda a mente na esperança. Está reservado à dimensão pastoral de socorro, nos módulos complementares voltados a quem atravessa crise aguda. Por isso ele encima o escudo: cobre o conjunto inteiro sem estar em nenhuma parte específica.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peças descrevem a marcha. Duas acompanham o soldado por toda a jornada e em suas crises.</a:t>
            </a:r>
            <a:endParaRPr lang="en-US" sz="1300" dirty="0"/>
          </a:p>
        </p:txBody>
      </p:sp>
      <p:pic>
        <p:nvPicPr>
          <p:cNvPr id="11" name="Image 0" descr="/home/claude/dac/figs/s5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VIII · A IDENTIDADE VISUAL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6012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pode mudar e o que não pode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regra de governança fecha este assunto, e ela vale para qualquer unidade que venha a adotar o programa.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3957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VARIAR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706624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recurso gráfico usado para cada símbolo, conforme o que estiver disponível: um impresso, um cartão, uma insígnia bordada, uma projeção, ou mesmo apenas a menção verbal na cerimônia.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3957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VARIAR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706624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significado espiritual de cada peça e a ordem em que os símbolos são entregues.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359152"/>
            <a:ext cx="0" cy="201168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6085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outras palavras: se faltar recurso, a cerimônia acontece do mesmo jeito. O que não pode acontecer é a insígnia significar outra coisa, ou vir fora de ordem.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111496"/>
            <a:ext cx="10515600" cy="475488"/>
          </a:xfrm>
          <a:prstGeom prst="rect">
            <a:avLst/>
          </a:prstGeom>
          <a:solidFill>
            <a:srgbClr val="F4F4F1"/>
          </a:solidFill>
          <a:ln w="9525">
            <a:solidFill>
              <a:srgbClr val="8C6A4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69264" y="5111496"/>
            <a:ext cx="10222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Caderno de Identidade Visual que consolidará essas regras está previsto e ainda não foi produzido.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VIII · A IDENTIDADE VISUAL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identidade fora da sala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 uma peça material que o método praticamente exige, e é justo apresentá-la antes de qualquer outra.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toda lição termina em Ordem do Dia, e a Ordem do Dia é cumprida ao longo da semana, ela precisa ser registrada em algum lugar. A Caderneta de Campanha é onde o discípulo anota o que foi pedido e o que foi cumprido: o versículo memorizado, a reconciliação buscada, o serviço prestado, a oração mantida.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 não é lembrança do curso. É instrumento da lição — nasceu da pedagogia, não de uma loja.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Outras aplicações da marca, ligadas a pertencimento e senso de tropa, estão em estudo e não foram aprovadas. Quando forem tratadas, virão acompanhadas de salvaguardas: uso vinculado a participantes do projeto, nenhuma peça condicionando participação ou avanço, e destinação de eventual receita definida e prestada em conta à liderança.</a:t>
            </a:r>
            <a:endParaRPr lang="en-US" sz="1300" dirty="0"/>
          </a:p>
        </p:txBody>
      </p:sp>
      <p:pic>
        <p:nvPicPr>
          <p:cNvPr id="11" name="Image 0" descr="/home/claude/dac/figs/s5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disso sobrevive sozinho. Falta o que garante que se repita.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A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IX · O GUIA MESTRE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852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ainda não foi resolvido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5852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o que você viu até aqui pode funcionar muito bem — e desaparecer em três anos.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Lembre da força que trabalha contra este tipo de trabalho: a perda. O melhor discipulado do mundo, se não estiver documentado, dura exatamente o tempo de permanência de quem o conduz. Instrutor é transferido. Voluntário muda de cidade. Liderança se renova.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método que só existe na cabeça de quem o criou não é um método. É um talento — e talento não se replica.</a:t>
            </a:r>
            <a:endParaRPr lang="en-US" sz="1350" dirty="0"/>
          </a:p>
        </p:txBody>
      </p:sp>
      <p:pic>
        <p:nvPicPr>
          <p:cNvPr id="11" name="Image 0" descr="/home/claude/dac/figs/s5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371600"/>
            <a:ext cx="4160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IX · O GUIA MESTRE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Guia Mestre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Guia Mestre do Discipulando a Caserna é a resposta a esse problema.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é a referência oficial do programa — um vade mecum espiritual que reúne a doutrina, o método, a estrutura das 48 lições, os ritos de transição e as regras de governança em um documento único.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não existe para engessar o que Deus faz. Existe para guardar, nutrir e conduzir: guardar o que já foi aprendido, nutrir quem vai conduzir, e conduzir o discípulo por um caminho que alguém pensou inteiro antes de ele começar a andar.</a:t>
            </a:r>
            <a:endParaRPr lang="en-US" sz="1300" dirty="0"/>
          </a:p>
        </p:txBody>
      </p:sp>
      <p:pic>
        <p:nvPicPr>
          <p:cNvPr id="11" name="Image 0" descr="/home/claude/dac/figs/s5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IX · O GUIA MESTRE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exigências que o Guia assumiu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documento foi escrito com quatro obrigações declaradas desde a primeira página.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487168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633472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Unificar a doutrina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todos ensinem a mesma coisa, com a mesma ênfase.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502152" y="2487168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2633472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Servir de referência ao instrutor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ninguém precise improvisar o que já foi decidido.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81344" y="2487168"/>
            <a:ext cx="2478024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633472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Estabelecer jornada progressiva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o discípulo saiba onde está e para onde vai.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860536" y="2487168"/>
            <a:ext cx="2478024" cy="2286000"/>
          </a:xfrm>
          <a:prstGeom prst="rect">
            <a:avLst/>
          </a:prstGeom>
          <a:solidFill>
            <a:srgbClr val="F4F4F1"/>
          </a:solidFill>
          <a:ln w="20320">
            <a:solidFill>
              <a:srgbClr val="8C6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5128" y="2633472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Garantir replicabilidade fiel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o programa possa existir sem quem o escreveu.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9743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quarta é a mais importante, e é a que resolve o problema do slide anterior.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IX · O GUIA MESTRE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conteúdo, três profundidades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material se organiza em três edições, cada uma para um uso diferente.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487168"/>
            <a:ext cx="3371088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633472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Mestre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Doutrina, método, estrutura e governança. Destinado à liderança e à formação de instrutores. É o documento de referência.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95216" y="2487168"/>
            <a:ext cx="3371088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9808" y="2633472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Edição do Instrutor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condução de cada lição, com notas pastorais, sugestões de aplicação e as perguntas de reflexão comentadas.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67472" y="2487168"/>
            <a:ext cx="3371088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633472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Edição do Aluno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texto da lição, o espaço de registro e a Ordem do Dia da semana.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9743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um só conteúdo em três níveis de profundidade. Isso significa que o discípulo, o instrutor e a liderança estão sempre falando exatamente da mesma coisa.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IX · O GUIA MESTRE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isso torna o programa replicável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56235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 está o efeito prático de tudo isso.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instrutor formado, em qualquer unidade, em qualquer cidade, abre o mesmo documento e conduz a mesma lição, com a mesma sequência interna e a mesma ênfase teológica. O discípulo que passa por ele recebe o que receberia em qualquer outro lugar onde o programa exista.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qualidade deixa de depender do talento de quem ensina e passa a depender da fidelidade ao que está escrito. Isso não elimina o dom pessoal — apenas garante que a ausência dele não comprometa o resultado.</a:t>
            </a:r>
            <a:endParaRPr lang="en-US" sz="1300" dirty="0"/>
          </a:p>
        </p:txBody>
      </p:sp>
      <p:pic>
        <p:nvPicPr>
          <p:cNvPr id="11" name="Image 0" descr="/home/claude/dac/figs/s6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IX · O GUIA MESTRE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6012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Guia deliberadamente não faz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importante dizer também os limites do documento, porque método sem limite vira legalismo.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3957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NÃO SUBSTITUI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706624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substitui o Espírito Santo, que é quem de fato forma. Não dispensa sensibilidade pastoral diante do caso concreto. Não impede que o instrutor adapte a linguagem ao seu grupo.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3957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ESTABELECE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706624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Ajustes pedagógicos são bem-vindos e esperados. Alteração doutrinária, não: ela exige deliberação pastoral formal, e não decisão individual de quem estiver conduzindo.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359152"/>
            <a:ext cx="0" cy="201168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6085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documento é versionado, as alterações são registradas, e há previsão de instância responsável pela guarda doutrinária. É isso que permite que o programa sobreviva ao seu autor — que é, no fim das contas, o objetivo dele.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9525">
            <a:solidFill>
              <a:srgbClr val="CFC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tudo o que já existe. A partir daqui, o que ainda não existe.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X · O HORIZONTE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não existe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falar do que vem pela frente, é honesto listar o que ainda não está pronto. A clareza sobre as pendências é o que dá crédito ao que já está feito.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3371088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87552" y="2852928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750" b="1" spc="12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PLANEJAMENTO</a:t>
            </a:r>
            <a:endParaRPr lang="en-US" sz="7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 de instrutores</a:t>
            </a:r>
            <a:endParaRPr lang="en-US" sz="7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Guia forma o discípulo; falta um percurso formal para formar quem forma. É a pendência mais crítica das três.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395216" y="2706624"/>
            <a:ext cx="3371088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559808" y="2852928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750" b="1" spc="12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PLANEJAMENTO</a:t>
            </a:r>
            <a:endParaRPr lang="en-US" sz="7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Apêndices Pastorais</a:t>
            </a:r>
            <a:endParaRPr lang="en-US" sz="7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documentos companheiros para crise aguda: A Marcha da Liberdade, associada ao Capacete da Salvação, e Vigília na Tempestade, associada à Espada do Espírito.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967472" y="2706624"/>
            <a:ext cx="3371088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132064" y="2852928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750" b="1" spc="12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PLANEJAMENTO</a:t>
            </a:r>
            <a:endParaRPr lang="en-US" sz="7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Caderno de Identidade Visual</a:t>
            </a:r>
            <a:endParaRPr lang="en-US" sz="7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consolidação das regras de uso da marca e dos símbolos.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22960" y="5193792"/>
            <a:ext cx="10515600" cy="914400"/>
          </a:xfrm>
          <a:prstGeom prst="rect">
            <a:avLst/>
          </a:prstGeom>
          <a:solidFill>
            <a:srgbClr val="EFE7DE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230368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escopo, declarados: nada disso substitui acompanhamento profissional, jurídico ou clínico. O projeto não faz promessas sobre processos institucionais ou progressão de pena. Toda condução acontece em comunhão com a igreja e, onde houver, com a capelania.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X · O HORIZONTE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6235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isso cresce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6235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de expansão tem uma ordem, e ela não é definida por oportunidade.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Começa no ambiente de reclusão militar, onde o projeto nasceu. Avança para as unidades operacionais, alcançando o militar em serviço ativo. Chega à igreja local, que recebe e dá continuidade. Alcança as famílias, porque a ferida nunca é só do militar. E só então se articula com capelanias e corporações coirmãs, e eventualmente com outros estados.</a:t>
            </a:r>
            <a:endParaRPr lang="en-US" sz="1300" dirty="0"/>
          </a:p>
          <a:p>
            <a:pPr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etapa depende da anterior estar consolidada. Crescer fora dessa ordem produziria alcance sem profundidade — que é exatamente o oposto do que este programa se propõe.</a:t>
            </a:r>
            <a:endParaRPr lang="en-US" sz="1300" dirty="0"/>
          </a:p>
        </p:txBody>
      </p:sp>
      <p:pic>
        <p:nvPicPr>
          <p:cNvPr id="11" name="Image 0" descr="/home/claude/dac/figs/s6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1417320"/>
            <a:ext cx="4343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X · O HORIZONTE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060704"/>
            <a:ext cx="98755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16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critérios que não se negociam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qualquer expansão está condicionada a três critérios. Eles existem porque a tentação natural de todo projeto que dá certo é crescer mais rápido do que consegue sustentar.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3371088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52928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Fidelidade doutrinária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relativizar o que o Guia estabeleceu para agradar a um contexto novo.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95216" y="2706624"/>
            <a:ext cx="3371088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9808" y="2852928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Coerência pedagógica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pular etapas por pressa, nem comprimir módulos para caber num calendário.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67472" y="2706624"/>
            <a:ext cx="3371088" cy="2286000"/>
          </a:xfrm>
          <a:prstGeom prst="rect">
            <a:avLst/>
          </a:prstGeom>
          <a:solidFill>
            <a:srgbClr val="F4F4F1"/>
          </a:solidFill>
          <a:ln w="9525">
            <a:solidFill>
              <a:srgbClr val="CFC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852928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pastoral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sacrificar o cuidado com as almas em nome do alcance.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51937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em algum momento crescer significar violar um destes três, o projeto não cresce.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X · O HORIZONTE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8503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mede este projeto não é quantas turmas foram abertas, nem quantos certificados foram entregues, nem quantas unidades foram alcançadas.</a:t>
            </a:r>
            <a:endParaRPr lang="en-US" sz="1450" dirty="0"/>
          </a:p>
          <a:p>
            <a:pPr algn="ctr" indent="0" marL="0">
              <a:lnSpc>
                <a:spcPts val="3600"/>
              </a:lnSpc>
              <a:spcBef>
                <a:spcPts val="140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discípulos se tornaram capazes de formar outros?</a:t>
            </a:r>
            <a:endParaRPr lang="en-US" sz="1450" dirty="0"/>
          </a:p>
          <a:p>
            <a:pPr algn="ctr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Porque, como você leu no começo desta apresentação: um homem evangelizado é um homem alcançado. Um homem discipulado é uma linhagem.</a:t>
            </a:r>
            <a:endParaRPr lang="en-US" sz="14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X · O HORIZONTE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243584"/>
            <a:ext cx="5852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caverna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2029968"/>
            <a:ext cx="585216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Termino onde comecei.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Aquele homem do início desta apresentação — o que chegou com a farda e com a vergonha, convencido de que Cristo tinha ido embora na hora da desonra — está sentado numa sala com uma Bíblia aberta.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que agora ele não é quem chegou. Ele é quem recebe.</a:t>
            </a:r>
            <a:endParaRPr lang="en-US" sz="13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Diante dele há outro homem, que acabou de entrar, e que carrega exatamente o que ele carregava.</a:t>
            </a:r>
            <a:endParaRPr lang="en-US" sz="1350" dirty="0"/>
          </a:p>
          <a:p>
            <a:pPr indent="0" marL="0">
              <a:lnSpc>
                <a:spcPts val="26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caverna é a mesma. Mudou quem está em cada cadeira.</a:t>
            </a:r>
            <a:endParaRPr lang="en-US" sz="1350" dirty="0"/>
          </a:p>
        </p:txBody>
      </p:sp>
      <p:pic>
        <p:nvPicPr>
          <p:cNvPr id="11" name="Image 0" descr="/home/claude/dac/figs/s6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234440"/>
            <a:ext cx="48463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108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X · O HORIZONTE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424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10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96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365760"/>
            <a:ext cx="137160" cy="137160"/>
          </a:xfrm>
          <a:prstGeom prst="rect">
            <a:avLst/>
          </a:prstGeom>
          <a:solidFill>
            <a:srgbClr val="8C6A46"/>
          </a:solidFill>
          <a:ln w="9525">
            <a:solidFill>
              <a:srgbClr val="8C6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Discipulando a Caserna · Projeto Caserna de Adulão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8503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versículo está no certificado de cada marcha, e está aqui pelo mesmo motivo. O que foi construído até agora não é obra de quem escreveu, e o que vier também não será. O trabalho foi apenas organizar, em papel, aquilo que já se via acontecer numa caverna.</a:t>
            </a:r>
            <a:endParaRPr lang="en-US" sz="1450" dirty="0"/>
          </a:p>
          <a:p>
            <a:pPr algn="ctr" indent="0" marL="0">
              <a:lnSpc>
                <a:spcPts val="3600"/>
              </a:lnSpc>
              <a:spcBef>
                <a:spcPts val="140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quebrantados, valentes.</a:t>
            </a:r>
            <a:endParaRPr lang="en-US" sz="145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F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“aquele que começou boa obra em vocês há de completá-la”</a:t>
            </a:r>
            <a:endParaRPr lang="en-US" sz="145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900" b="1" spc="160" kern="0" dirty="0">
                <a:solidFill>
                  <a:srgbClr val="8C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FILIPENSES 1.6</a:t>
            </a:r>
            <a:endParaRPr lang="en-US" sz="1450" dirty="0"/>
          </a:p>
        </p:txBody>
      </p:sp>
      <p:pic>
        <p:nvPicPr>
          <p:cNvPr id="10" name="Image 0" descr="/home/claude/dac/figs/s6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4773168"/>
            <a:ext cx="1188720" cy="1188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Caserna de Adulão · CNPJ 63.724.286/0001-78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B9B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Mestre v1.0-RC · Fortaleza,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Projeto Caserna de Adulão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Discipulando a Caserna — Apresentação institucional</dc:title>
  <dc:subject>PptxGenJS Presentation</dc:subject>
  <dc:creator>Obr. Flávio Alves da Costa</dc:creator>
  <cp:lastModifiedBy>Obr. Flávio Alves da Costa</cp:lastModifiedBy>
  <cp:revision>1</cp:revision>
  <dcterms:created xsi:type="dcterms:W3CDTF">2026-07-29T15:06:20Z</dcterms:created>
  <dcterms:modified xsi:type="dcterms:W3CDTF">2026-07-29T15:06:20Z</dcterms:modified>
</cp:coreProperties>
</file>